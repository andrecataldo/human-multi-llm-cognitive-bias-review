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vVJ0RN9yIHDJmBiT+7UZxkWsM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 do Trabalho 7, Semana 09. A tarefa é transformar a codificação da Semana 08 em três produtos: resultados relacionais, interpretação orientada por teorias e hipóteses provisórias. Nosso foco são os vieses e julgamentos humanos mediados por LLMs, com especial interesse em configurações multiagentes. Não estamos apresentando uma teoria comprovada.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professor pede três movimentos, não uma repetição das fichas de codificação. Primeiro, resultados: identificar antecedentes, mecanismos possíveis, comportamentos, consequências e condições de contexto. Segundo, discussão: colocar as relações em diálogo com as teorias da Semana 07. Terceiro, teorização: derivar proposições passíveis de teste. O corpus permanece o mesmo da Semana 08: 10 reports e 13 estudos empíricos. A sequência na tela é uma organização analítica, não uma mediação causal demonstrada. A crença prévia, o tipo de tarefa, a correção da resposta e o custo da verificação são condições que podem alterar essas relações.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Relação 1: FT1222, dois estudos, mediu consultas confirmatórias. Conteúdo dissonante não reduziu a busca confirmatória de forma equivalente; isso não significa que toda opinião se tornou mais extrema. Relação 2: em ST002, explanations elevaram aceitação de respostas certas e erradas. ST005 mostra que reduzir overreliance não necessariamente melhora appropriate reliance. Relação 3: em ST004, avisos de baixa confiança favoreceram follow-up e acurácia na tarefa vulnerável a erro, com mais tempo. Em ST005 e ST013 outras formas de incerteza tiveram resultados diferentes; comparações entre os estudos são contextuais, não um experimento único. Discordar do LLM não prova ter verificado sua resposta.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 estudos FT0083, FT0318 e FT0545 há efeitos de persuasão, correção de crença ou mudança de opinião, mas não podemos equiparar diretamente esses resultados ao viés de confirmação ou ancoragem. Na publicação FT0083, atenção à correção editorial de setembro de 2026: a comparação GPT-4 personalizado versus GPT-4 não personalizado não foi estatisticamente significativa após correção, p=0,0678. No contexto multiagente, ST007 identificou aumento da influência normativa, não da informacional; ST010 investigou qualitativamente percepções de maioria, crítica e consenso. Nenhum desses dois comprova independência real das fontes ou acurácia maior. Uma regra de leitura: percepção de confiabilidade, comportamento de aceitação e desempenho são variáveis distintas.</a:t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Estamos comparando resultados com as lentes definidas no Trabalho 5. Em confirmation bias, temos medida direta de consultas confirmatórias, especialmente ST011 e ST012. JAS e Trust in Automation distinguem conselho, confiança, reliance e desempenho. Em Social Influence e CASA, os resultados com multiagentes são compatíveis com a possibilidade de pistas sociais, mas não constituem teste conclusivo da teoria CASA. Estudos de incerteza mostram que há condicionamentos e não uma regra universal. Dentro dos dez reports analisados, não encontramos operacionalização direta suficiente de anchoring humano ou automation bias; não podemos dizer que essas teorias foram refutadas ou que inexistam pesquisas sobre o tema fora do conjunto analisado.</a:t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etapa de teorização não consiste em inventar cinco resultados, mas formular proposições à luz da síntese. P1, P2 e P3 dialogam com explicações, sinais de erro e crença prévia. P4 trata da influência social, mas não afirma que agentes contribuam informação nova. P5 é a ideia candidata de corroboração aparente: talvez uma pessoa tome concordância entre agentes como evidência independente, embora eles possam compartilhar modelos ou fontes. Isso não foi demonstrado no corpus e a originalidade do conceito também precisa ser verificada na literatura. Um experimento possível manipularia independência real e percebida e mediria confiança, aceitação e acurácia. P2 inclui hipótese do papel moderador do custo de checagem, não demonstrada transversalmente.</a:t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conclusão não é que LLMs sempre façam mal ou bem ao julgamento, mas que os efeitos dependem de condições específicas. Passamos de temas para relações, de relações para interpretações com teorias, e de interpretações para hipóteses investigáveis. Nosso recorte de 10 reports e 13 studies é uma síntese preliminar, não uma revisão exaustiva. Ainda há conferência humana pendente das extrações e das medidas primárias. Não avaliamos um efeito causal comum, nem demonstramos novidade teórica, saturação ou independência epistêmica de agentes. O próximo passo é auditar a base e definir experimentos que separem percepção, comportamento e desempenho.</a:t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543d769e3f6c14f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h543d769e3f6c14f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 do Trabalho 7, Semana 09. A tarefa é transformar a codificação da Semana 08 em três produtos: resultados relacionais, interpretação orientada por teorias e hipóteses provisórias. Nosso foco são os vieses e julgamentos humanos mediados por LLMs, com especial interesse em configurações multiagentes. Não estamos apresentando uma teoria comprovada.</a:t>
            </a:r>
            <a:endParaRPr/>
          </a:p>
        </p:txBody>
      </p:sp>
      <p:sp>
        <p:nvSpPr>
          <p:cNvPr id="200" name="Google Shape;200;h543d769e3f6c14f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1"/>
          <p:cNvCxnSpPr/>
          <p:nvPr/>
        </p:nvCxnSpPr>
        <p:spPr>
          <a:xfrm>
            <a:off x="859536" y="960120"/>
            <a:ext cx="10396728" cy="0"/>
          </a:xfrm>
          <a:prstGeom prst="straightConnector1">
            <a:avLst/>
          </a:prstGeom>
          <a:noFill/>
          <a:ln cap="flat" cmpd="sng" w="139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886968" y="1380744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SEMANA 09 · TRABALHO 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68680" y="1892808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Dos resultados à teorização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86968" y="3035808"/>
            <a:ext cx="10058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O que os estudos mostram, como interpretá-los e o que podemos propor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86968" y="368503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Vieses cognitivos humanos em julgamentos mediados por LLMs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886968" y="5413248"/>
            <a:ext cx="10177272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896112" y="5596128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 · Prof. Sean Siqueira </a:t>
            </a:r>
            <a:r>
              <a:rPr lang="en-US" sz="1200">
                <a:solidFill>
                  <a:srgbClr val="516476"/>
                </a:solidFill>
              </a:rPr>
              <a:t>· Aluno André Cataldo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96112" y="5916168"/>
            <a:ext cx="54864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 de outubro de 2026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2"/>
          <p:cNvCxnSpPr/>
          <p:nvPr/>
        </p:nvCxnSpPr>
        <p:spPr>
          <a:xfrm>
            <a:off x="749808" y="448056"/>
            <a:ext cx="10689336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768096" y="612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PONTO DE PARTIDA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58952" y="941832"/>
            <a:ext cx="10789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O que mudou nesta semana?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758952" y="6364224"/>
            <a:ext cx="10661904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758952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10"/>
              <a:buFont typeface="Arial"/>
              <a:buNone/>
            </a:pPr>
            <a:r>
              <a:rPr b="0" i="0" lang="en-US" sz="91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082528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4672" y="1810512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4672" y="2468880"/>
            <a:ext cx="3346704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90"/>
              <a:buFont typeface="Arial"/>
              <a:buNone/>
            </a:pPr>
            <a:r>
              <a:rPr b="0" i="0" lang="en-US" sz="139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publicações (reports)</a:t>
            </a:r>
            <a:endParaRPr b="0" i="0" sz="13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4133088" y="1847088"/>
            <a:ext cx="0" cy="1014984"/>
          </a:xfrm>
          <a:prstGeom prst="straightConnector1">
            <a:avLst/>
          </a:prstGeom>
          <a:noFill/>
          <a:ln cap="flat" cmpd="sng" w="114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4507992" y="1810512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07992" y="2468880"/>
            <a:ext cx="3346704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90"/>
              <a:buFont typeface="Arial"/>
              <a:buNone/>
            </a:pPr>
            <a:r>
              <a:rPr b="0" i="0" lang="en-US" sz="139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unidades empíricas (studies)</a:t>
            </a:r>
            <a:endParaRPr b="0" i="0" sz="13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7836408" y="1847088"/>
            <a:ext cx="0" cy="1014984"/>
          </a:xfrm>
          <a:prstGeom prst="straightConnector1">
            <a:avLst/>
          </a:prstGeom>
          <a:noFill/>
          <a:ln cap="flat" cmpd="sng" w="114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/>
          <p:nvPr/>
        </p:nvSpPr>
        <p:spPr>
          <a:xfrm>
            <a:off x="8211312" y="1810512"/>
            <a:ext cx="1371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211312" y="2468880"/>
            <a:ext cx="3346704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90"/>
              <a:buFont typeface="Arial"/>
              <a:buNone/>
            </a:pPr>
            <a:r>
              <a:rPr b="0" i="0" lang="en-US" sz="139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categorias axiais (AX01</a:t>
            </a:r>
            <a:r>
              <a:rPr lang="en-US" sz="1390">
                <a:solidFill>
                  <a:srgbClr val="516476"/>
                </a:solidFill>
              </a:rPr>
              <a:t>-</a:t>
            </a:r>
            <a:r>
              <a:rPr b="0" i="0" lang="en-US" sz="139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AX05)</a:t>
            </a:r>
            <a:endParaRPr b="0" i="0" sz="13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804672" y="3163824"/>
            <a:ext cx="10552176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822960" y="345643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PERCURSO DA ANÁLISE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22960" y="3922776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43584" y="3877056"/>
            <a:ext cx="29809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43584" y="4370832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Relações entre sinais da IA e ações humanas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26280" y="3922776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946904" y="3877056"/>
            <a:ext cx="29809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DISCUSSÃO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946904" y="4370832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O que as teorias explicam e quais são seus limites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229600" y="3922776"/>
            <a:ext cx="2926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650224" y="3877056"/>
            <a:ext cx="29809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TEORIZAÇÃO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650224" y="4370832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Hipóteses que podemos testar no futuro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3"/>
          <p:cNvCxnSpPr/>
          <p:nvPr/>
        </p:nvCxnSpPr>
        <p:spPr>
          <a:xfrm>
            <a:off x="749808" y="448056"/>
            <a:ext cx="10689336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768096" y="612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RESULTADOS · RELAÇÕES OBSERVADAS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58952" y="941832"/>
            <a:ext cx="10789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Três relações que aparecem nos estudos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758952" y="6364224"/>
            <a:ext cx="10661904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758952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10"/>
              <a:buFont typeface="Arial"/>
              <a:buNone/>
            </a:pPr>
            <a:r>
              <a:rPr b="0" i="0" lang="en-US" sz="91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082528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868680" y="174650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RELAÇÃO</a:t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1929384" y="1746504"/>
            <a:ext cx="6949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O QUE OS ESTUDOS MOSTRAM</a:t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9253728" y="1746504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EVIDÊNCIAS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41248" y="2075688"/>
            <a:ext cx="10543032" cy="10972"/>
          </a:xfrm>
          <a:prstGeom prst="rect">
            <a:avLst/>
          </a:prstGeom>
          <a:solidFill>
            <a:srgbClr val="DF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886968" y="2203704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1929384" y="2185416"/>
            <a:ext cx="7095744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Quando a IA concorda, a busca pode ficar mais confirmatória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1929384" y="2633472"/>
            <a:ext cx="70866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Busca conversacional e respostas alinhadas à posição inicial aumentaram consultas confirmatórias.</a:t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9262872" y="2258568"/>
            <a:ext cx="2011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ST011</a:t>
            </a:r>
            <a:r>
              <a:rPr lang="en-US" sz="1150">
                <a:solidFill>
                  <a:srgbClr val="516476"/>
                </a:solidFill>
              </a:rPr>
              <a:t>-</a:t>
            </a:r>
            <a:r>
              <a:rPr b="0" i="0" lang="en-US" sz="115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012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841248" y="3200400"/>
            <a:ext cx="10543032" cy="10972"/>
          </a:xfrm>
          <a:prstGeom prst="rect">
            <a:avLst/>
          </a:prstGeom>
          <a:solidFill>
            <a:srgbClr val="DF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886968" y="3319272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/>
          </a:p>
        </p:txBody>
      </p:sp>
      <p:sp>
        <p:nvSpPr>
          <p:cNvPr id="75" name="Google Shape;75;p3"/>
          <p:cNvSpPr txBox="1"/>
          <p:nvPr/>
        </p:nvSpPr>
        <p:spPr>
          <a:xfrm>
            <a:off x="1929384" y="3300984"/>
            <a:ext cx="7095744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Uma explicação pode aumentar a aceitação, mesmo diante de erro</a:t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1929384" y="3749039"/>
            <a:ext cx="70866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Explicações elevaram a aceitação tanto de respostas corretas quanto incorretas.</a:t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9262872" y="3374136"/>
            <a:ext cx="2011680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ST002 · ST005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41248" y="4315968"/>
            <a:ext cx="10543032" cy="10972"/>
          </a:xfrm>
          <a:prstGeom prst="rect">
            <a:avLst/>
          </a:prstGeom>
          <a:solidFill>
            <a:srgbClr val="DF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886968" y="4434840"/>
            <a:ext cx="6583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1929384" y="4416552"/>
            <a:ext cx="709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Avisos de possível erro podem ajudar</a:t>
            </a:r>
            <a:r>
              <a:rPr b="1" lang="en-US" sz="1600">
                <a:solidFill>
                  <a:srgbClr val="213D58"/>
                </a:solidFill>
              </a:rPr>
              <a:t>,</a:t>
            </a: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 mas nem sempre</a:t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1929384" y="4864607"/>
            <a:ext cx="7086600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Sinais de baixa confiança favoreceram novas consultas e acertos em uma tarefa, com maior tempo.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9262872" y="4489703"/>
            <a:ext cx="2011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ST004</a:t>
            </a:r>
            <a:r>
              <a:rPr lang="en-US" sz="1150">
                <a:solidFill>
                  <a:srgbClr val="516476"/>
                </a:solidFill>
              </a:rPr>
              <a:t>-</a:t>
            </a:r>
            <a:r>
              <a:rPr b="0" i="0" lang="en-US" sz="115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005 · ST013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41248" y="5614416"/>
            <a:ext cx="10543032" cy="10972"/>
          </a:xfrm>
          <a:prstGeom prst="rect">
            <a:avLst/>
          </a:prstGeom>
          <a:solidFill>
            <a:srgbClr val="DF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877824" y="5751576"/>
            <a:ext cx="104790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Conclusão: uma relação observada não demonstra, por si só, o mecanismo cognitivo que a explica.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4"/>
          <p:cNvCxnSpPr/>
          <p:nvPr/>
        </p:nvCxnSpPr>
        <p:spPr>
          <a:xfrm>
            <a:off x="749808" y="448056"/>
            <a:ext cx="10689336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4"/>
          <p:cNvSpPr/>
          <p:nvPr/>
        </p:nvSpPr>
        <p:spPr>
          <a:xfrm>
            <a:off x="768096" y="612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RESULTADOS · RELAÇÕES OBSERVADAS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58952" y="941832"/>
            <a:ext cx="10789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Duas relações e uma distinção importante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758952" y="6364224"/>
            <a:ext cx="10661904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4"/>
          <p:cNvSpPr/>
          <p:nvPr/>
        </p:nvSpPr>
        <p:spPr>
          <a:xfrm>
            <a:off x="758952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10"/>
              <a:buFont typeface="Arial"/>
              <a:buNone/>
            </a:pPr>
            <a:r>
              <a:rPr b="0" i="0" lang="en-US" sz="91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1082528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859536" y="1755648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RELAÇÃO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1938528" y="1755648"/>
            <a:ext cx="6812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O QUE APRENDEMOS</a:t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9272016" y="1755648"/>
            <a:ext cx="19476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EVIDÊNCIAS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841248" y="2093976"/>
            <a:ext cx="10543032" cy="10972"/>
          </a:xfrm>
          <a:prstGeom prst="rect">
            <a:avLst/>
          </a:prstGeom>
          <a:solidFill>
            <a:srgbClr val="DF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886968" y="2286000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/>
          </a:p>
        </p:txBody>
      </p:sp>
      <p:sp>
        <p:nvSpPr>
          <p:cNvPr id="101" name="Google Shape;101;p4"/>
          <p:cNvSpPr txBox="1"/>
          <p:nvPr/>
        </p:nvSpPr>
        <p:spPr>
          <a:xfrm>
            <a:off x="1938528" y="2258568"/>
            <a:ext cx="6986016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Conteúdo e debate podem mudar opiniões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1938528" y="2743200"/>
            <a:ext cx="6903720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Argumentos e narrativas geradas por LLMs foram associados a mudanças de crença ou opinião. Isso não demonstra, por si só, um viés cognitivo humano específico.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9262872" y="2532888"/>
            <a:ext cx="20574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ST006 · ST008</a:t>
            </a:r>
            <a:r>
              <a:rPr lang="en-US" sz="1180">
                <a:solidFill>
                  <a:srgbClr val="516476"/>
                </a:solidFill>
              </a:rPr>
              <a:t>-</a:t>
            </a:r>
            <a:r>
              <a:rPr b="0" i="0" lang="en-US" sz="118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009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41248" y="3657600"/>
            <a:ext cx="10543032" cy="10972"/>
          </a:xfrm>
          <a:prstGeom prst="rect">
            <a:avLst/>
          </a:prstGeom>
          <a:solidFill>
            <a:srgbClr val="DF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886968" y="3813048"/>
            <a:ext cx="6583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1938528" y="3785615"/>
            <a:ext cx="6986016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Vários agentes podem produzir influência social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1938528" y="4270248"/>
            <a:ext cx="6903720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Em um experimento, aumentou a influência normativa sem aumento significativo da informacional. Consenso também foi interpretado como pista de confiabilidade.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9262872" y="4059935"/>
            <a:ext cx="2057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ST007 · ST010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841248" y="5239512"/>
            <a:ext cx="10543032" cy="10972"/>
          </a:xfrm>
          <a:prstGeom prst="rect">
            <a:avLst/>
          </a:prstGeom>
          <a:solidFill>
            <a:srgbClr val="DFE7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p5"/>
          <p:cNvCxnSpPr/>
          <p:nvPr/>
        </p:nvCxnSpPr>
        <p:spPr>
          <a:xfrm>
            <a:off x="749808" y="448056"/>
            <a:ext cx="10689336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5"/>
          <p:cNvSpPr/>
          <p:nvPr/>
        </p:nvSpPr>
        <p:spPr>
          <a:xfrm>
            <a:off x="768096" y="612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10"/>
              <a:buFont typeface="Arial"/>
              <a:buNone/>
            </a:pPr>
            <a:r>
              <a:rPr b="1" i="0" lang="en-US" sz="101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DISCUSSÃO · DIÁLOGO COM TEORIAS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58952" y="941832"/>
            <a:ext cx="10789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O que as teorias ajudam a explicar?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5"/>
          <p:cNvCxnSpPr/>
          <p:nvPr/>
        </p:nvCxnSpPr>
        <p:spPr>
          <a:xfrm>
            <a:off x="758952" y="6364224"/>
            <a:ext cx="10661904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5"/>
          <p:cNvSpPr/>
          <p:nvPr/>
        </p:nvSpPr>
        <p:spPr>
          <a:xfrm>
            <a:off x="758952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10"/>
              <a:buFont typeface="Arial"/>
              <a:buNone/>
            </a:pPr>
            <a:r>
              <a:rPr b="0" i="0" lang="en-US" sz="91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1082528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32104" y="1746504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LEITURA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743200" y="17465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LENTE TEÓRICA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605272" y="1746504"/>
            <a:ext cx="4251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113264" y="174650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STUDIES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5"/>
          <p:cNvCxnSpPr/>
          <p:nvPr/>
        </p:nvCxnSpPr>
        <p:spPr>
          <a:xfrm>
            <a:off x="822960" y="2084832"/>
            <a:ext cx="10561320" cy="0"/>
          </a:xfrm>
          <a:prstGeom prst="straightConnector1">
            <a:avLst/>
          </a:prstGeom>
          <a:noFill/>
          <a:ln cap="flat" cmpd="sng" w="114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5"/>
          <p:cNvSpPr/>
          <p:nvPr/>
        </p:nvSpPr>
        <p:spPr>
          <a:xfrm>
            <a:off x="832104" y="2212848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Convergência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743200" y="2212848"/>
            <a:ext cx="2642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Confirmation Bias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05272" y="2180844"/>
            <a:ext cx="431596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Busca conversacional e consonância favoreceram consultas confirmatórias.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0113264" y="2212848"/>
            <a:ext cx="1271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ST011</a:t>
            </a:r>
            <a:r>
              <a:rPr lang="en-US" sz="1140">
                <a:solidFill>
                  <a:srgbClr val="516476"/>
                </a:solidFill>
              </a:rPr>
              <a:t>-</a:t>
            </a:r>
            <a:r>
              <a:rPr b="0" i="0" lang="en-US" sz="114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012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822960" y="2857500"/>
            <a:ext cx="10561320" cy="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832104" y="2935224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280"/>
              <a:buFont typeface="Arial"/>
              <a:buNone/>
            </a:pPr>
            <a:r>
              <a:rPr b="1" i="0" lang="en-US" sz="128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Convergência limitada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743200" y="2935224"/>
            <a:ext cx="2642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JAS · Trust in Automation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605272" y="2903220"/>
            <a:ext cx="431596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Aceitar mais o conselho não garante melhor decisão.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0113264" y="2935224"/>
            <a:ext cx="1271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ST002 · ST005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5"/>
          <p:cNvCxnSpPr/>
          <p:nvPr/>
        </p:nvCxnSpPr>
        <p:spPr>
          <a:xfrm>
            <a:off x="822960" y="3579876"/>
            <a:ext cx="10561320" cy="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832104" y="3657600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Convergência parcial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743200" y="3657600"/>
            <a:ext cx="2642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Social Influence · CASA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605272" y="3625596"/>
            <a:ext cx="431596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Múltiplos agentes podem funcionar como pistas sociais; houve influência normativa.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113264" y="3657600"/>
            <a:ext cx="1271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ST007 · ST010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5"/>
          <p:cNvCxnSpPr/>
          <p:nvPr/>
        </p:nvCxnSpPr>
        <p:spPr>
          <a:xfrm>
            <a:off x="822960" y="4302252"/>
            <a:ext cx="10561320" cy="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5"/>
          <p:cNvSpPr/>
          <p:nvPr/>
        </p:nvSpPr>
        <p:spPr>
          <a:xfrm>
            <a:off x="832104" y="4379976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Condicionamento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743200" y="4379976"/>
            <a:ext cx="2642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Trust / reliance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605272" y="4347972"/>
            <a:ext cx="431596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Efeitos dos avisos dependem de linguagem, tarefa e medida.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113264" y="4379976"/>
            <a:ext cx="1271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ST00</a:t>
            </a:r>
            <a:r>
              <a:rPr b="0" i="0" lang="en-US" sz="114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140">
                <a:solidFill>
                  <a:srgbClr val="516476"/>
                </a:solidFill>
              </a:rPr>
              <a:t>-</a:t>
            </a:r>
            <a:r>
              <a:rPr b="0" i="0" lang="en-US" sz="114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005 · ST013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822960" y="5024628"/>
            <a:ext cx="10561320" cy="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832104" y="5102352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280"/>
              <a:buFont typeface="Arial"/>
              <a:buNone/>
            </a:pPr>
            <a:r>
              <a:rPr b="1" i="0" lang="en-US" sz="128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Ausência de teste direto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743200" y="5102352"/>
            <a:ext cx="2642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360"/>
              <a:buFont typeface="Arial"/>
              <a:buNone/>
            </a:pPr>
            <a:r>
              <a:rPr b="0" i="0" lang="en-US" sz="136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Anchoring · Automation Bias</a:t>
            </a:r>
            <a:endParaRPr b="0" i="0" sz="13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605272" y="5070348"/>
            <a:ext cx="4315968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Não operacionalizados diretamente nas dez publicações analisadas.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113264" y="5102352"/>
            <a:ext cx="1271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140"/>
              <a:buFont typeface="Arial"/>
              <a:buNone/>
            </a:pPr>
            <a:r>
              <a:rPr lang="en-US" sz="1140">
                <a:solidFill>
                  <a:srgbClr val="516476"/>
                </a:solidFill>
              </a:rPr>
              <a:t>-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822960" y="5747004"/>
            <a:ext cx="10561320" cy="0"/>
          </a:xfrm>
          <a:prstGeom prst="straightConnector1">
            <a:avLst/>
          </a:prstGeom>
          <a:noFill/>
          <a:ln cap="flat" cmpd="sng" w="9525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Google Shape;156;p6"/>
          <p:cNvCxnSpPr/>
          <p:nvPr/>
        </p:nvCxnSpPr>
        <p:spPr>
          <a:xfrm>
            <a:off x="749808" y="448056"/>
            <a:ext cx="10689336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6"/>
          <p:cNvSpPr/>
          <p:nvPr/>
        </p:nvSpPr>
        <p:spPr>
          <a:xfrm>
            <a:off x="768096" y="612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TEORIZAÇÃO · PROPOSIÇÕES PROVISÓRIAS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58952" y="941832"/>
            <a:ext cx="10789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Que hipóteses podemos propor?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758952" y="6364224"/>
            <a:ext cx="10661904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758952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10"/>
              <a:buFont typeface="Arial"/>
              <a:buNone/>
            </a:pPr>
            <a:r>
              <a:rPr b="0" i="0" lang="en-US" sz="91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11082528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41248" y="177393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IDEIA INTEGRADORA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41248" y="2011680"/>
            <a:ext cx="7772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A resposta da IA não atua sozinha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50392" y="2496312"/>
            <a:ext cx="10552176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Crenças prévias, apresentação e chance de conferir a informação podem mudar o julgamento.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6"/>
          <p:cNvCxnSpPr/>
          <p:nvPr/>
        </p:nvCxnSpPr>
        <p:spPr>
          <a:xfrm>
            <a:off x="841248" y="3081528"/>
            <a:ext cx="10524744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6"/>
          <p:cNvSpPr/>
          <p:nvPr/>
        </p:nvSpPr>
        <p:spPr>
          <a:xfrm>
            <a:off x="896112" y="3282696"/>
            <a:ext cx="5212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380"/>
              <a:buFont typeface="Arial"/>
              <a:buNone/>
            </a:pPr>
            <a:r>
              <a:rPr b="1" i="0" lang="en-US" sz="138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517904" y="3250692"/>
            <a:ext cx="973836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510"/>
              <a:buFont typeface="Arial"/>
              <a:buNone/>
            </a:pPr>
            <a:r>
              <a:rPr b="0" i="0" lang="en-US" sz="151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Explicações podem aumentar a aceitação até de respostas incorretas.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96112" y="3785616"/>
            <a:ext cx="5212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380"/>
              <a:buFont typeface="Arial"/>
              <a:buNone/>
            </a:pPr>
            <a:r>
              <a:rPr b="1" i="0" lang="en-US" sz="138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517904" y="3753612"/>
            <a:ext cx="973836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510"/>
              <a:buFont typeface="Arial"/>
              <a:buNone/>
            </a:pPr>
            <a:r>
              <a:rPr b="0" i="0" lang="en-US" sz="151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Avisos podem ajudar mais quando verificar é simples e viável.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96112" y="4288536"/>
            <a:ext cx="5212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380"/>
              <a:buFont typeface="Arial"/>
              <a:buNone/>
            </a:pPr>
            <a:r>
              <a:rPr b="1" i="0" lang="en-US" sz="138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517904" y="4256532"/>
            <a:ext cx="973836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510"/>
              <a:buFont typeface="Arial"/>
              <a:buNone/>
            </a:pPr>
            <a:r>
              <a:rPr b="0" i="0" lang="en-US" sz="151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Respostas alinhadas à crença podem reforçar buscas confirmatórias.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96112" y="4791456"/>
            <a:ext cx="5212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380"/>
              <a:buFont typeface="Arial"/>
              <a:buNone/>
            </a:pPr>
            <a:r>
              <a:rPr b="1" i="0" lang="en-US" sz="138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517904" y="4759452"/>
            <a:ext cx="973836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510"/>
              <a:buFont typeface="Arial"/>
              <a:buNone/>
            </a:pPr>
            <a:r>
              <a:rPr b="0" i="0" lang="en-US" sz="151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Vários agentes concordantes podem aumentar influência social.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96112" y="5294376"/>
            <a:ext cx="52120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380"/>
              <a:buFont typeface="Arial"/>
              <a:buNone/>
            </a:pPr>
            <a:r>
              <a:rPr b="1" i="0" lang="en-US" sz="138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1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517904" y="5262372"/>
            <a:ext cx="973836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510"/>
              <a:buFont typeface="Arial"/>
              <a:buNone/>
            </a:pPr>
            <a:r>
              <a:rPr b="0" i="0" lang="en-US" sz="151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“Corroboração aparente”: consenso pode parecer prova independente.</a:t>
            </a:r>
            <a:endParaRPr b="0" i="0" sz="15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7"/>
          <p:cNvCxnSpPr/>
          <p:nvPr/>
        </p:nvCxnSpPr>
        <p:spPr>
          <a:xfrm>
            <a:off x="749808" y="448056"/>
            <a:ext cx="10689336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7"/>
          <p:cNvSpPr/>
          <p:nvPr/>
        </p:nvSpPr>
        <p:spPr>
          <a:xfrm>
            <a:off x="768096" y="612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CONCLUSÃO · SÍNTESE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58952" y="941832"/>
            <a:ext cx="107899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O que se aprende</a:t>
            </a:r>
            <a:r>
              <a:rPr b="1" lang="en-US" sz="2700">
                <a:solidFill>
                  <a:srgbClr val="213D58"/>
                </a:solidFill>
              </a:rPr>
              <a:t>u</a:t>
            </a:r>
            <a:r>
              <a:rPr b="1" i="0" lang="en-US" sz="27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 com os dez artigos?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7"/>
          <p:cNvCxnSpPr/>
          <p:nvPr/>
        </p:nvCxnSpPr>
        <p:spPr>
          <a:xfrm>
            <a:off x="758952" y="6364224"/>
            <a:ext cx="10661904" cy="0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7"/>
          <p:cNvSpPr/>
          <p:nvPr/>
        </p:nvSpPr>
        <p:spPr>
          <a:xfrm>
            <a:off x="758952" y="6473952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10"/>
              <a:buFont typeface="Arial"/>
              <a:buNone/>
            </a:pPr>
            <a:r>
              <a:rPr b="0" i="0" lang="en-US" sz="91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11082528" y="6473952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41248" y="1810512"/>
            <a:ext cx="1043330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Uma resposta que parece confiável não garante uma decisão melhor.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7"/>
          <p:cNvCxnSpPr/>
          <p:nvPr/>
        </p:nvCxnSpPr>
        <p:spPr>
          <a:xfrm>
            <a:off x="841248" y="3081528"/>
            <a:ext cx="10497312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7"/>
          <p:cNvSpPr/>
          <p:nvPr/>
        </p:nvSpPr>
        <p:spPr>
          <a:xfrm>
            <a:off x="859536" y="34290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59536" y="3822192"/>
            <a:ext cx="311810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Encontramos relações condicionais entre crenças, sinais da IA, busca, aceitação e desempenho.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>
            <a:off x="4197096" y="3429000"/>
            <a:ext cx="0" cy="1636776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7"/>
          <p:cNvSpPr/>
          <p:nvPr/>
        </p:nvSpPr>
        <p:spPr>
          <a:xfrm>
            <a:off x="4480560" y="34290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DISCUSSÃO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480560" y="3822192"/>
            <a:ext cx="311810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As teorias ajudam a explicar os achados, mas também apontam limites e lacunas.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>
            <a:off x="7818120" y="3429000"/>
            <a:ext cx="0" cy="1636776"/>
          </a:xfrm>
          <a:prstGeom prst="straightConnector1">
            <a:avLst/>
          </a:prstGeom>
          <a:noFill/>
          <a:ln cap="flat" cmpd="sng" w="101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/>
          <p:nvPr/>
        </p:nvSpPr>
        <p:spPr>
          <a:xfrm>
            <a:off x="8083296" y="342900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3D58"/>
                </a:solidFill>
                <a:latin typeface="Arial"/>
                <a:ea typeface="Arial"/>
                <a:cs typeface="Arial"/>
                <a:sym typeface="Arial"/>
              </a:rPr>
              <a:t>TEORIZAÇÃO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083296" y="3822192"/>
            <a:ext cx="3118104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38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C2938"/>
                </a:solidFill>
                <a:latin typeface="Arial"/>
                <a:ea typeface="Arial"/>
                <a:cs typeface="Arial"/>
                <a:sym typeface="Arial"/>
              </a:rPr>
              <a:t>Propomos hipóteses testáveis, especialmente sobre o acordo entre múltiplos agentes.</a:t>
            </a:r>
            <a:endParaRPr b="0" i="0" sz="15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h543d769e3f6c14f2_0_0"/>
          <p:cNvCxnSpPr/>
          <p:nvPr/>
        </p:nvCxnSpPr>
        <p:spPr>
          <a:xfrm>
            <a:off x="859536" y="960120"/>
            <a:ext cx="10396800" cy="0"/>
          </a:xfrm>
          <a:prstGeom prst="straightConnector1">
            <a:avLst/>
          </a:prstGeom>
          <a:noFill/>
          <a:ln cap="flat" cmpd="sng" w="1395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h543d769e3f6c14f2_0_0"/>
          <p:cNvSpPr/>
          <p:nvPr/>
        </p:nvSpPr>
        <p:spPr>
          <a:xfrm>
            <a:off x="886968" y="1380744"/>
            <a:ext cx="640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SEMANA 09 · TRABALHO 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543d769e3f6c14f2_0_0"/>
          <p:cNvSpPr/>
          <p:nvPr/>
        </p:nvSpPr>
        <p:spPr>
          <a:xfrm>
            <a:off x="868680" y="1892808"/>
            <a:ext cx="10881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3D58"/>
              </a:buClr>
              <a:buSzPts val="3500"/>
              <a:buFont typeface="Arial"/>
              <a:buNone/>
            </a:pPr>
            <a:r>
              <a:rPr b="1" lang="en-US" sz="3500">
                <a:solidFill>
                  <a:srgbClr val="213D58"/>
                </a:solidFill>
              </a:rPr>
              <a:t>Obrigado!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h543d769e3f6c14f2_0_0"/>
          <p:cNvCxnSpPr/>
          <p:nvPr/>
        </p:nvCxnSpPr>
        <p:spPr>
          <a:xfrm>
            <a:off x="886968" y="5413248"/>
            <a:ext cx="10177200" cy="0"/>
          </a:xfrm>
          <a:prstGeom prst="straightConnector1">
            <a:avLst/>
          </a:prstGeom>
          <a:noFill/>
          <a:ln cap="flat" cmpd="sng" w="12700">
            <a:solidFill>
              <a:srgbClr val="D9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h543d769e3f6c14f2_0_0"/>
          <p:cNvSpPr/>
          <p:nvPr/>
        </p:nvSpPr>
        <p:spPr>
          <a:xfrm>
            <a:off x="896112" y="5596128"/>
            <a:ext cx="886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16476"/>
                </a:solidFill>
                <a:latin typeface="Arial"/>
                <a:ea typeface="Arial"/>
                <a:cs typeface="Arial"/>
                <a:sym typeface="Arial"/>
              </a:rPr>
              <a:t>Comunicação Científica · PPGI/UNIRIO · Prof. Sean Siqueira </a:t>
            </a:r>
            <a:r>
              <a:rPr lang="en-US" sz="1200">
                <a:solidFill>
                  <a:srgbClr val="516476"/>
                </a:solidFill>
              </a:rPr>
              <a:t>· Aluno André Cataldo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543d769e3f6c14f2_0_0"/>
          <p:cNvSpPr/>
          <p:nvPr/>
        </p:nvSpPr>
        <p:spPr>
          <a:xfrm>
            <a:off x="896112" y="5916168"/>
            <a:ext cx="54864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 de outubro de 2026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2026-10-14T22:56:21Z</dcterms:created>
  <dc:creator>André Cataldo</dc:creator>
</cp:coreProperties>
</file>